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27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35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5.png" ContentType="image/png"/>
  <Override PartName="/ppt/media/image14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CF2313-E256-41E6-8764-2D61FD1BCF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AA6CC0-894C-4F2E-AA82-8C70FC633A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E940888-9F8E-4834-BA4A-4FB546EE9F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2A6A0C7-6293-4846-9F73-3510F9742A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2E6959E-D769-4E43-9AF8-01B6DFF693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9CA1308F-E46B-455A-9BD9-D1A4D83A196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6300F04C-6D04-4E2B-9F81-BE188058BAD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2BE9DD0-054C-4571-BACD-DBA58207E26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7A15A2E-81EE-461C-9163-12B31C973C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7CE10620-6B87-4451-8FCF-CCC4463E30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4BECE76-60A7-49FC-BA8B-9F4FAE36DE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BC2630-1368-4273-8E7A-A977E509960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12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7CD2C4-79C2-4B40-95D6-FEA39240FAA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A57B348-27B6-44CF-B74A-0CEBB1D845C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DF1B6E-B14A-4D2A-8C0D-FFD276EDF24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BF078ED-49D3-4790-8397-F7348B97DAA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E286BE-2248-4C81-B72A-EA5D7A6FAEC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5B36C3B-38E4-4AE4-A661-C06BAD39977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E39A75-EC7E-400B-BCB1-C4723D63F91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C765F5-632A-4CDF-B24E-01176EE1175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A8DA5F-CB60-4F47-A3B3-A714D426CDB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53F2064-8FC3-4BDF-B520-E7E2985B960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0"/>
            <a:ext cx="255600" cy="6857640"/>
          </a:xfrm>
          <a:prstGeom prst="rect">
            <a:avLst/>
          </a:prstGeom>
          <a:solidFill>
            <a:srgbClr val="1f6f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1005840" y="2103120"/>
            <a:ext cx="9600840" cy="16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300" spc="-1" strike="noStrike">
                <a:solidFill>
                  <a:srgbClr val="1f6f4a"/>
                </a:solidFill>
                <a:latin typeface="Calibri"/>
              </a:rPr>
              <a:t>DOCUMENTAÇÃO E2E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5400" spc="-1" strike="noStrike">
                <a:solidFill>
                  <a:srgbClr val="141822"/>
                </a:solidFill>
                <a:latin typeface="Calibri"/>
              </a:rPr>
              <a:t>Guia do k9x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801"/>
              </a:spcAft>
            </a:pPr>
            <a:r>
              <a:rPr b="0" lang="en-US" sz="2200" spc="-1" strike="noStrike">
                <a:solidFill>
                  <a:srgbClr val="5c6472"/>
                </a:solidFill>
                <a:latin typeface="Calibri"/>
              </a:rPr>
              <a:t>Como usar a app, passo a passo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640080" y="45720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O que vai encontrar neste guia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ectangle 3"/>
          <p:cNvSpPr/>
          <p:nvPr/>
        </p:nvSpPr>
        <p:spPr>
          <a:xfrm>
            <a:off x="640080" y="111564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640080" y="1371600"/>
            <a:ext cx="10911240" cy="345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Bef>
                <a:spcPts val="601"/>
              </a:spcBef>
              <a:spcAft>
                <a:spcPts val="1599"/>
              </a:spcAft>
            </a:pP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▪  </a:t>
            </a: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Quatro percursos completos, do início ao fim, com imagens de cada passo.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601"/>
              </a:spcBef>
              <a:spcAft>
                <a:spcPts val="1599"/>
              </a:spcAft>
            </a:pP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▪  </a:t>
            </a: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Organizar uma prova — criar a competição, a prova e o evento.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601"/>
              </a:spcBef>
              <a:spcAft>
                <a:spcPts val="1599"/>
              </a:spcAft>
            </a:pP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▪  </a:t>
            </a: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Inscrever o seu cão numa prova aberta.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601"/>
              </a:spcBef>
              <a:spcAft>
                <a:spcPts val="1599"/>
              </a:spcAft>
            </a:pP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▪  </a:t>
            </a: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Pontuar — introduzir as notas no dia da prova.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601"/>
              </a:spcBef>
              <a:spcAft>
                <a:spcPts val="1599"/>
              </a:spcAft>
            </a:pP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▪  </a:t>
            </a: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Consultar — ver provas e classificações, mesmo sem organizar nada.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601"/>
              </a:spcBef>
              <a:spcAft>
                <a:spcPts val="1599"/>
              </a:spcAft>
            </a:pP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▪  </a:t>
            </a: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Não precisa de ler tudo: vá diretamente ao percurso que lhe interessa.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640080" y="45720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Antes de começar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Rectangle 3"/>
          <p:cNvSpPr/>
          <p:nvPr/>
        </p:nvSpPr>
        <p:spPr>
          <a:xfrm>
            <a:off x="640080" y="111564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640080" y="1371600"/>
            <a:ext cx="10911240" cy="345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Bef>
                <a:spcPts val="601"/>
              </a:spcBef>
              <a:spcAft>
                <a:spcPts val="1599"/>
              </a:spcAft>
            </a:pP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▪  </a:t>
            </a: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Entre na app com a sua conta Google. É o único passo obrigatório.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601"/>
              </a:spcBef>
              <a:spcAft>
                <a:spcPts val="1599"/>
              </a:spcAft>
            </a:pP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▪  </a:t>
            </a: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Se vai organizar provas, a sua conta tem de ter perfil de organizador.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601"/>
              </a:spcBef>
              <a:spcAft>
                <a:spcPts val="1599"/>
              </a:spcAft>
            </a:pP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▪  </a:t>
            </a: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As imagens deste guia são de telemóvel. No computador é igual, com mais espaço.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601"/>
              </a:spcBef>
              <a:spcAft>
                <a:spcPts val="1599"/>
              </a:spcAft>
            </a:pP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▪  </a:t>
            </a: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O botão azul  +  no canto inferior direito é sempre "criar novo".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601"/>
              </a:spcBef>
              <a:spcAft>
                <a:spcPts val="1599"/>
              </a:spcAft>
            </a:pP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▪  </a:t>
            </a: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A roda dentada abre as opções de edição da página onde está.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601"/>
              </a:spcBef>
              <a:spcAft>
                <a:spcPts val="1599"/>
              </a:spcAft>
            </a:pP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▪  </a:t>
            </a: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Pode usar a app sem internet: as alterações são guardadas e enviadas depois.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640080" y="45720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Os quatro percursos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ectangle 3"/>
          <p:cNvSpPr/>
          <p:nvPr/>
        </p:nvSpPr>
        <p:spPr>
          <a:xfrm>
            <a:off x="640080" y="111564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4"/>
          <p:cNvSpPr/>
          <p:nvPr/>
        </p:nvSpPr>
        <p:spPr>
          <a:xfrm>
            <a:off x="640080" y="1371600"/>
            <a:ext cx="109112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500" spc="-1" strike="noStrike">
                <a:solidFill>
                  <a:srgbClr val="5c6472"/>
                </a:solidFill>
                <a:latin typeface="Calibri"/>
              </a:rPr>
              <a:t>Escolha o que precisa de fazer.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ectangle 5"/>
          <p:cNvSpPr/>
          <p:nvPr/>
        </p:nvSpPr>
        <p:spPr>
          <a:xfrm>
            <a:off x="640080" y="1965960"/>
            <a:ext cx="2697120" cy="3108600"/>
          </a:xfrm>
          <a:prstGeom prst="rect">
            <a:avLst/>
          </a:prstGeom>
          <a:solidFill>
            <a:srgbClr val="ffffff"/>
          </a:solidFill>
          <a:ln>
            <a:solidFill>
              <a:srgbClr val="d8dc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Rectangle 6"/>
          <p:cNvSpPr/>
          <p:nvPr/>
        </p:nvSpPr>
        <p:spPr>
          <a:xfrm>
            <a:off x="640080" y="1965960"/>
            <a:ext cx="2697120" cy="82080"/>
          </a:xfrm>
          <a:prstGeom prst="rect">
            <a:avLst/>
          </a:prstGeom>
          <a:solidFill>
            <a:srgbClr val="1f6f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7"/>
          <p:cNvSpPr/>
          <p:nvPr/>
        </p:nvSpPr>
        <p:spPr>
          <a:xfrm>
            <a:off x="841320" y="2277000"/>
            <a:ext cx="2294640" cy="148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141822"/>
                </a:solidFill>
                <a:latin typeface="Calibri"/>
              </a:rPr>
              <a:t>Organizar uma prova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199"/>
              </a:spcAft>
            </a:pPr>
            <a:r>
              <a:rPr b="0" lang="en-US" sz="1200" spc="-1" strike="noStrike">
                <a:solidFill>
                  <a:srgbClr val="141822"/>
                </a:solidFill>
                <a:latin typeface="Calibri"/>
              </a:rPr>
              <a:t>Criar tudo o que uma prova precisa: o juiz, o cão, a competição, a prova e o evento.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5c6472"/>
                </a:solidFill>
                <a:latin typeface="Calibri"/>
              </a:rPr>
              <a:t>Para organizadores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ectangle 8"/>
          <p:cNvSpPr/>
          <p:nvPr/>
        </p:nvSpPr>
        <p:spPr>
          <a:xfrm>
            <a:off x="3566160" y="1965960"/>
            <a:ext cx="2697120" cy="3108600"/>
          </a:xfrm>
          <a:prstGeom prst="rect">
            <a:avLst/>
          </a:prstGeom>
          <a:solidFill>
            <a:srgbClr val="ffffff"/>
          </a:solidFill>
          <a:ln>
            <a:solidFill>
              <a:srgbClr val="d8dc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Rectangle 9"/>
          <p:cNvSpPr/>
          <p:nvPr/>
        </p:nvSpPr>
        <p:spPr>
          <a:xfrm>
            <a:off x="3566160" y="1965960"/>
            <a:ext cx="2697120" cy="82080"/>
          </a:xfrm>
          <a:prstGeom prst="rect">
            <a:avLst/>
          </a:prstGeom>
          <a:solidFill>
            <a:srgbClr val="1f6f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10"/>
          <p:cNvSpPr/>
          <p:nvPr/>
        </p:nvSpPr>
        <p:spPr>
          <a:xfrm>
            <a:off x="3767400" y="2277000"/>
            <a:ext cx="2294640" cy="12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141822"/>
                </a:solidFill>
                <a:latin typeface="Calibri"/>
              </a:rPr>
              <a:t>Inscrever o seu cão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199"/>
              </a:spcAft>
            </a:pPr>
            <a:r>
              <a:rPr b="0" lang="en-US" sz="1200" spc="-1" strike="noStrike">
                <a:solidFill>
                  <a:srgbClr val="141822"/>
                </a:solidFill>
                <a:latin typeface="Calibri"/>
              </a:rPr>
              <a:t>Inscrever um cão seu numa prova que já está aberta a inscrições.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5c6472"/>
                </a:solidFill>
                <a:latin typeface="Calibri"/>
              </a:rPr>
              <a:t>Para qualquer utilizador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ectangle 11"/>
          <p:cNvSpPr/>
          <p:nvPr/>
        </p:nvSpPr>
        <p:spPr>
          <a:xfrm>
            <a:off x="6492240" y="1965960"/>
            <a:ext cx="2697120" cy="3108600"/>
          </a:xfrm>
          <a:prstGeom prst="rect">
            <a:avLst/>
          </a:prstGeom>
          <a:solidFill>
            <a:srgbClr val="ffffff"/>
          </a:solidFill>
          <a:ln>
            <a:solidFill>
              <a:srgbClr val="d8dc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Rectangle 12"/>
          <p:cNvSpPr/>
          <p:nvPr/>
        </p:nvSpPr>
        <p:spPr>
          <a:xfrm>
            <a:off x="6492240" y="1965960"/>
            <a:ext cx="2697120" cy="82080"/>
          </a:xfrm>
          <a:prstGeom prst="rect">
            <a:avLst/>
          </a:prstGeom>
          <a:solidFill>
            <a:srgbClr val="1f6f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13"/>
          <p:cNvSpPr/>
          <p:nvPr/>
        </p:nvSpPr>
        <p:spPr>
          <a:xfrm>
            <a:off x="6693480" y="2277000"/>
            <a:ext cx="2294640" cy="167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141822"/>
                </a:solidFill>
                <a:latin typeface="Calibri"/>
              </a:rPr>
              <a:t>Pontuar a prova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199"/>
              </a:spcAft>
            </a:pPr>
            <a:r>
              <a:rPr b="0" lang="en-US" sz="1200" spc="-1" strike="noStrike">
                <a:solidFill>
                  <a:srgbClr val="141822"/>
                </a:solidFill>
                <a:latin typeface="Calibri"/>
              </a:rPr>
              <a:t>Levar a prova até ao fim: aceitar inscrições, fechá-las e introduzir as notas.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5c6472"/>
                </a:solidFill>
                <a:latin typeface="Calibri"/>
              </a:rPr>
              <a:t>Para qualquer utilizador com sessão iniciada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 14"/>
          <p:cNvSpPr/>
          <p:nvPr/>
        </p:nvSpPr>
        <p:spPr>
          <a:xfrm>
            <a:off x="9418320" y="1965960"/>
            <a:ext cx="2697120" cy="3108600"/>
          </a:xfrm>
          <a:prstGeom prst="rect">
            <a:avLst/>
          </a:prstGeom>
          <a:solidFill>
            <a:srgbClr val="ffffff"/>
          </a:solidFill>
          <a:ln>
            <a:solidFill>
              <a:srgbClr val="d8dc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Rectangle 15"/>
          <p:cNvSpPr/>
          <p:nvPr/>
        </p:nvSpPr>
        <p:spPr>
          <a:xfrm>
            <a:off x="9418320" y="1965960"/>
            <a:ext cx="2697120" cy="82080"/>
          </a:xfrm>
          <a:prstGeom prst="rect">
            <a:avLst/>
          </a:prstGeom>
          <a:solidFill>
            <a:srgbClr val="1f6f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440" bIns="37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16"/>
          <p:cNvSpPr/>
          <p:nvPr/>
        </p:nvSpPr>
        <p:spPr>
          <a:xfrm>
            <a:off x="9619560" y="2277000"/>
            <a:ext cx="2294640" cy="12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141822"/>
                </a:solidFill>
                <a:latin typeface="Calibri"/>
              </a:rPr>
              <a:t>Consultar provas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199"/>
              </a:spcAft>
            </a:pPr>
            <a:r>
              <a:rPr b="0" lang="en-US" sz="1200" spc="-1" strike="noStrike">
                <a:solidFill>
                  <a:srgbClr val="141822"/>
                </a:solidFill>
                <a:latin typeface="Calibri"/>
              </a:rPr>
              <a:t>Encontrar provas e ver resultados, sem organizar nem inscrever nada.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5c6472"/>
                </a:solidFill>
                <a:latin typeface="Calibri"/>
              </a:rPr>
              <a:t>Para qualquer pessoa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PERCURSO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1 — Organizar uma prova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5"/>
          <p:cNvSpPr/>
          <p:nvPr/>
        </p:nvSpPr>
        <p:spPr>
          <a:xfrm>
            <a:off x="640080" y="1673280"/>
            <a:ext cx="6400440" cy="20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2599"/>
              </a:spcAft>
            </a:pPr>
            <a:r>
              <a:rPr b="0" lang="en-US" sz="1900" spc="-1" strike="noStrike">
                <a:solidFill>
                  <a:srgbClr val="141822"/>
                </a:solidFill>
                <a:latin typeface="Calibri"/>
              </a:rPr>
              <a:t>Criar tudo o que uma prova precisa: o juiz, o cão, a competição, a prova e o evento.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901"/>
              </a:spcAft>
            </a:pPr>
            <a:r>
              <a:rPr b="0" lang="en-US" sz="1500" spc="-1" strike="noStrike">
                <a:solidFill>
                  <a:srgbClr val="5c6472"/>
                </a:solidFill>
                <a:latin typeface="Calibri"/>
              </a:rPr>
              <a:t>▪  </a:t>
            </a:r>
            <a:r>
              <a:rPr b="0" lang="en-US" sz="1500" spc="-1" strike="noStrike">
                <a:solidFill>
                  <a:srgbClr val="5c6472"/>
                </a:solidFill>
                <a:latin typeface="Calibri"/>
              </a:rPr>
              <a:t>Para organizadores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901"/>
              </a:spcAft>
            </a:pPr>
            <a:r>
              <a:rPr b="0" lang="en-US" sz="1500" spc="-1" strike="noStrike">
                <a:solidFill>
                  <a:srgbClr val="5c6472"/>
                </a:solidFill>
                <a:latin typeface="Calibri"/>
              </a:rPr>
              <a:t>▪  </a:t>
            </a:r>
            <a:r>
              <a:rPr b="0" lang="en-US" sz="1500" spc="-1" strike="noStrike">
                <a:solidFill>
                  <a:srgbClr val="5c6472"/>
                </a:solidFill>
                <a:latin typeface="Calibri"/>
              </a:rPr>
              <a:t>Cerca de 10 minutos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901"/>
              </a:spcAft>
            </a:pPr>
            <a:r>
              <a:rPr b="0" lang="en-US" sz="1500" spc="-1" strike="noStrike">
                <a:solidFill>
                  <a:srgbClr val="5c6472"/>
                </a:solidFill>
                <a:latin typeface="Calibri"/>
              </a:rPr>
              <a:t>▪  </a:t>
            </a:r>
            <a:r>
              <a:rPr b="0" lang="en-US" sz="1500" spc="-1" strike="noStrike">
                <a:solidFill>
                  <a:srgbClr val="5c6472"/>
                </a:solidFill>
                <a:latin typeface="Calibri"/>
              </a:rPr>
              <a:t>No fim, a prova fica visível para todos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6"/>
          <p:cNvSpPr/>
          <p:nvPr/>
        </p:nvSpPr>
        <p:spPr>
          <a:xfrm>
            <a:off x="7498080" y="1673280"/>
            <a:ext cx="4023000" cy="31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000" spc="-1" strike="noStrike">
                <a:solidFill>
                  <a:srgbClr val="5c6472"/>
                </a:solidFill>
                <a:latin typeface="Calibri"/>
              </a:rPr>
              <a:t>NESTE PERCURSO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1.  Criar o juiz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2.  O juiz já está na lista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3.  Criar um cão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4.  Criar a competição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5.  Adicionar a prova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6.  Adicionar o evento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7.  Configurar o evento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8.  Atribuir o juiz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9.  Adicionar competidores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10.  Pronto: a prova está publicada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1 — ORGANIZAR UMA PROVA · PASSO 1 DE 10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Criar o juiz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4" name="Picture 5" descr="01-judge-dialog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105" name="TextBox 6"/>
          <p:cNvSpPr/>
          <p:nvPr/>
        </p:nvSpPr>
        <p:spPr>
          <a:xfrm>
            <a:off x="5120640" y="3579120"/>
            <a:ext cx="6339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Em Juízes, toque no  +  , escreva o nome do juiz e escolha o país. Termine em Guardar.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1 — ORGANIZAR UMA PROVA · PASSO 2 DE 10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O juiz já está na lista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0" name="Picture 5" descr="02-judge-list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111" name="TextBox 6"/>
          <p:cNvSpPr/>
          <p:nvPr/>
        </p:nvSpPr>
        <p:spPr>
          <a:xfrm>
            <a:off x="5120640" y="3579120"/>
            <a:ext cx="6339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Passa a aparecer na lista de juízes e pode usá-lo em qualquer prova que organize.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1 — ORGANIZAR UMA PROVA · PASSO 3 DE 10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Criar um cão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6" name="Picture 5" descr="03-dog-dialog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117" name="TextBox 6"/>
          <p:cNvSpPr/>
          <p:nvPr/>
        </p:nvSpPr>
        <p:spPr>
          <a:xfrm>
            <a:off x="5120640" y="3579120"/>
            <a:ext cx="6339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Em Cães, toque no  +  e preencha a identificação, o nome, a raça e a altura. Marque Próprio se o cão é seu.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1 — ORGANIZAR UMA PROVA · PASSO 4 DE 10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Criar a competição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2" name="Picture 5" descr="04-competition-edit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123" name="TextBox 6"/>
          <p:cNvSpPr/>
          <p:nvPr/>
        </p:nvSpPr>
        <p:spPr>
          <a:xfrm>
            <a:off x="5120640" y="3579120"/>
            <a:ext cx="6339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Em Competições, toque no  +  . Nasce com um nome provisório: mude o título e escolha o país.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1 — ORGANIZAR UMA PROVA · PASSO 5 DE 10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Adicionar a prova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8" name="Picture 5" descr="05-add-trial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129" name="TextBox 6"/>
          <p:cNvSpPr/>
          <p:nvPr/>
        </p:nvSpPr>
        <p:spPr>
          <a:xfrm>
            <a:off x="5120640" y="3579120"/>
            <a:ext cx="6339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Dentro da competição, use Adicionar prova e indique o título e os dias em que vai acontecer.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1 — ORGANIZAR UMA PROVA · PASSO 6 DE 10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Adicionar o evento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4" name="Picture 5" descr="06-add-event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135" name="TextBox 6"/>
          <p:cNvSpPr/>
          <p:nvPr/>
        </p:nvSpPr>
        <p:spPr>
          <a:xfrm>
            <a:off x="5120640" y="3579120"/>
            <a:ext cx="6339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Dentro da prova, use Adicionar evento, dê-lhe um título e escolha a disciplina.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1 — ORGANIZAR UMA PROVA · PASSO 7 DE 10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Configurar o evento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0" name="Picture 5" descr="07-event-config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141" name="TextBox 6"/>
          <p:cNvSpPr/>
          <p:nvPr/>
        </p:nvSpPr>
        <p:spPr>
          <a:xfrm>
            <a:off x="5120640" y="3373560"/>
            <a:ext cx="6339240" cy="12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Escolha a federação, o grau e a categoria, e defina a data limite de inscrição. Siga esta ordem: os campos vão-se abrindo à medida que preenche.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1 — ORGANIZAR UMA PROVA · PASSO 8 DE 10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Atribuir o juiz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6" name="Picture 5" descr="08-add-judge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147" name="TextBox 6"/>
          <p:cNvSpPr/>
          <p:nvPr/>
        </p:nvSpPr>
        <p:spPr>
          <a:xfrm>
            <a:off x="5120640" y="3579120"/>
            <a:ext cx="6339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Em Adicionar juiz, escolha o juiz e indique o email de quem vai introduzir as notas no dia da prova.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1 — ORGANIZAR UMA PROVA · PASSO 9 DE 10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Adicionar competidores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2" name="Picture 5" descr="09-add-competitor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153" name="TextBox 6"/>
          <p:cNvSpPr/>
          <p:nvPr/>
        </p:nvSpPr>
        <p:spPr>
          <a:xfrm>
            <a:off x="5120640" y="3579120"/>
            <a:ext cx="6339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No separador Competidores pode inscrever cães você mesmo, sem esperar que se inscrevam.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1 — ORGANIZAR UMA PROVA · PASSO 10 DE 10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Pronto: a prova está publicada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8" name="Picture 5" descr="10-stage-info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159" name="TextBox 6"/>
          <p:cNvSpPr/>
          <p:nvPr/>
        </p:nvSpPr>
        <p:spPr>
          <a:xfrm>
            <a:off x="5120640" y="3579120"/>
            <a:ext cx="6339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Esta é a página pública da prova. Qualquer pessoa a vê e pode consultar quem está inscrito.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PERCURSO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2 — Inscrever o seu cão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5"/>
          <p:cNvSpPr/>
          <p:nvPr/>
        </p:nvSpPr>
        <p:spPr>
          <a:xfrm>
            <a:off x="640080" y="1673280"/>
            <a:ext cx="6400440" cy="17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2599"/>
              </a:spcAft>
            </a:pPr>
            <a:r>
              <a:rPr b="0" lang="en-US" sz="1900" spc="-1" strike="noStrike">
                <a:solidFill>
                  <a:srgbClr val="141822"/>
                </a:solidFill>
                <a:latin typeface="Calibri"/>
              </a:rPr>
              <a:t>Inscrever um cão seu numa prova que já está aberta a inscrições.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901"/>
              </a:spcAft>
            </a:pPr>
            <a:r>
              <a:rPr b="0" lang="en-US" sz="1500" spc="-1" strike="noStrike">
                <a:solidFill>
                  <a:srgbClr val="5c6472"/>
                </a:solidFill>
                <a:latin typeface="Calibri"/>
              </a:rPr>
              <a:t>▪  </a:t>
            </a:r>
            <a:r>
              <a:rPr b="0" lang="en-US" sz="1500" spc="-1" strike="noStrike">
                <a:solidFill>
                  <a:srgbClr val="5c6472"/>
                </a:solidFill>
                <a:latin typeface="Calibri"/>
              </a:rPr>
              <a:t>Para qualquer utilizador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901"/>
              </a:spcAft>
            </a:pPr>
            <a:r>
              <a:rPr b="0" lang="en-US" sz="1500" spc="-1" strike="noStrike">
                <a:solidFill>
                  <a:srgbClr val="5c6472"/>
                </a:solidFill>
                <a:latin typeface="Calibri"/>
              </a:rPr>
              <a:t>▪  </a:t>
            </a:r>
            <a:r>
              <a:rPr b="0" lang="en-US" sz="1500" spc="-1" strike="noStrike">
                <a:solidFill>
                  <a:srgbClr val="5c6472"/>
                </a:solidFill>
                <a:latin typeface="Calibri"/>
              </a:rPr>
              <a:t>Menos de 1 minuto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901"/>
              </a:spcAft>
            </a:pPr>
            <a:r>
              <a:rPr b="0" lang="en-US" sz="1500" spc="-1" strike="noStrike">
                <a:solidFill>
                  <a:srgbClr val="5c6472"/>
                </a:solidFill>
                <a:latin typeface="Calibri"/>
              </a:rPr>
              <a:t>▪  </a:t>
            </a:r>
            <a:r>
              <a:rPr b="0" lang="en-US" sz="1500" spc="-1" strike="noStrike">
                <a:solidFill>
                  <a:srgbClr val="5c6472"/>
                </a:solidFill>
                <a:latin typeface="Calibri"/>
              </a:rPr>
              <a:t>O cão tem de estar marcado como Próprio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6"/>
          <p:cNvSpPr/>
          <p:nvPr/>
        </p:nvSpPr>
        <p:spPr>
          <a:xfrm>
            <a:off x="7498080" y="1673280"/>
            <a:ext cx="4023000" cy="7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000" spc="-1" strike="noStrike">
                <a:solidFill>
                  <a:srgbClr val="5c6472"/>
                </a:solidFill>
                <a:latin typeface="Calibri"/>
              </a:rPr>
              <a:t>NESTE PERCURSO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1.  Tocar em Inscrever-se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2.  Inscrição feita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2 — INSCREVER O SEU CÃO · PASSO 1 DE 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Tocar em Inscrever-se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70" name="Picture 5" descr="11-enroll-dialog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171" name="TextBox 6"/>
          <p:cNvSpPr/>
          <p:nvPr/>
        </p:nvSpPr>
        <p:spPr>
          <a:xfrm>
            <a:off x="5120640" y="3579120"/>
            <a:ext cx="6339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Na página da prova, toque em Inscrever-se e escolha o cão. Só aparecem os cães que são seus.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2 — INSCREVER O SEU CÃO · PASSO 2 DE 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Inscrição feita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76" name="Picture 5" descr="10-stage-info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177" name="TextBox 6"/>
          <p:cNvSpPr/>
          <p:nvPr/>
        </p:nvSpPr>
        <p:spPr>
          <a:xfrm>
            <a:off x="5120640" y="3579120"/>
            <a:ext cx="6339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O cão passa a constar em Inscritos. Fica pendente até o organizador aceitar a inscrição.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PERCURSO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3 — Pontuar a prova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5"/>
          <p:cNvSpPr/>
          <p:nvPr/>
        </p:nvSpPr>
        <p:spPr>
          <a:xfrm>
            <a:off x="640080" y="1673280"/>
            <a:ext cx="6400440" cy="20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2599"/>
              </a:spcAft>
            </a:pPr>
            <a:r>
              <a:rPr b="0" lang="en-US" sz="1900" spc="-1" strike="noStrike">
                <a:solidFill>
                  <a:srgbClr val="141822"/>
                </a:solidFill>
                <a:latin typeface="Calibri"/>
              </a:rPr>
              <a:t>Levar a prova até ao fim: aceitar inscrições, fechá-las e introduzir as notas.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901"/>
              </a:spcAft>
            </a:pPr>
            <a:r>
              <a:rPr b="0" lang="en-US" sz="1500" spc="-1" strike="noStrike">
                <a:solidFill>
                  <a:srgbClr val="5c6472"/>
                </a:solidFill>
                <a:latin typeface="Calibri"/>
              </a:rPr>
              <a:t>▪  </a:t>
            </a:r>
            <a:r>
              <a:rPr b="0" lang="en-US" sz="1500" spc="-1" strike="noStrike">
                <a:solidFill>
                  <a:srgbClr val="5c6472"/>
                </a:solidFill>
                <a:latin typeface="Calibri"/>
              </a:rPr>
              <a:t>Para qualquer utilizador com sessão iniciada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901"/>
              </a:spcAft>
            </a:pPr>
            <a:r>
              <a:rPr b="0" lang="en-US" sz="1500" spc="-1" strike="noStrike">
                <a:solidFill>
                  <a:srgbClr val="5c6472"/>
                </a:solidFill>
                <a:latin typeface="Calibri"/>
              </a:rPr>
              <a:t>▪  </a:t>
            </a:r>
            <a:r>
              <a:rPr b="0" lang="en-US" sz="1500" spc="-1" strike="noStrike">
                <a:solidFill>
                  <a:srgbClr val="5c6472"/>
                </a:solidFill>
                <a:latin typeface="Calibri"/>
              </a:rPr>
              <a:t>Quem pontua é definido pelo email indicado ao atribuir o juiz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901"/>
              </a:spcAft>
            </a:pPr>
            <a:r>
              <a:rPr b="0" lang="en-US" sz="1500" spc="-1" strike="noStrike">
                <a:solidFill>
                  <a:srgbClr val="5c6472"/>
                </a:solidFill>
                <a:latin typeface="Calibri"/>
              </a:rPr>
              <a:t>▪  </a:t>
            </a:r>
            <a:r>
              <a:rPr b="0" lang="en-US" sz="1500" spc="-1" strike="noStrike">
                <a:solidFill>
                  <a:srgbClr val="5c6472"/>
                </a:solidFill>
                <a:latin typeface="Calibri"/>
              </a:rPr>
              <a:t>As notas geram a classificação automaticamente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Box 6"/>
          <p:cNvSpPr/>
          <p:nvPr/>
        </p:nvSpPr>
        <p:spPr>
          <a:xfrm>
            <a:off x="7498080" y="1673280"/>
            <a:ext cx="4023000" cy="25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000" spc="-1" strike="noStrike">
                <a:solidFill>
                  <a:srgbClr val="5c6472"/>
                </a:solidFill>
                <a:latin typeface="Calibri"/>
              </a:rPr>
              <a:t>NESTE PERCURSO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1.  Escolher os exercícios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2.  Aceitar as inscrições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3.  Fechar as inscrições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4.  Pôr a prova a decorrer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5.  Abrir a folha de notas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6.  Introduzir as notas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7.  A prova está a decorrer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8.  Ver a classificação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3 — PONTUAR A PROVA · PASSO 1 DE 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Escolher os exercícios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88" name="Picture 5" descr="13-exercises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189" name="TextBox 6"/>
          <p:cNvSpPr/>
          <p:nvPr/>
        </p:nvSpPr>
        <p:spPr>
          <a:xfrm>
            <a:off x="5120640" y="3579120"/>
            <a:ext cx="6339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No separador Exercícios, adicione os exercícios que vão ser avaliados. Sem exercícios não há nada para pontuar.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3 — PONTUAR A PROVA · PASSO 2 DE 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Aceitar as inscrições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94" name="Picture 5" descr="14-accept-enrollment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195" name="TextBox 6"/>
          <p:cNvSpPr/>
          <p:nvPr/>
        </p:nvSpPr>
        <p:spPr>
          <a:xfrm>
            <a:off x="5120640" y="3579120"/>
            <a:ext cx="6339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No separador Competidores, toque em Aceitar inscrição em cada cão que se inscreveu sozinho.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3 — PONTUAR A PROVA · PASSO 3 DE 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Fechar as inscrições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00" name="Picture 5" descr="15-close-enrollment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201" name="TextBox 6"/>
          <p:cNvSpPr/>
          <p:nvPr/>
        </p:nvSpPr>
        <p:spPr>
          <a:xfrm>
            <a:off x="5120640" y="3579120"/>
            <a:ext cx="6339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Ponha a data limite de inscrição num dia já passado. A partir daí ninguém mais se consegue inscrever.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3 — PONTUAR A PROVA · PASSO 4 DE 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Pôr a prova a decorrer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06" name="Picture 5" descr="16-stage-today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207" name="TextBox 6"/>
          <p:cNvSpPr/>
          <p:nvPr/>
        </p:nvSpPr>
        <p:spPr>
          <a:xfrm>
            <a:off x="5120640" y="3579120"/>
            <a:ext cx="6339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Mude as datas da prova para hoje. Só é possível pontuar enquanto a prova está a acontecer.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9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3 — PONTUAR A PROVA · PASSO 5 DE 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Abrir a folha de notas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12" name="Picture 5" descr="17-collection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213" name="TextBox 6"/>
          <p:cNvSpPr/>
          <p:nvPr/>
        </p:nvSpPr>
        <p:spPr>
          <a:xfrm>
            <a:off x="5120640" y="3579120"/>
            <a:ext cx="6339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Em Coleções aparecem as provas que lhe cabe pontuar hoje. Toque na que quer abrir.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3 — PONTUAR A PROVA · PASSO 6 DE 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Introduzir as notas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18" name="Picture 5" descr="18-scores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219" name="TextBox 6"/>
          <p:cNvSpPr/>
          <p:nvPr/>
        </p:nvSpPr>
        <p:spPr>
          <a:xfrm>
            <a:off x="5120640" y="3373560"/>
            <a:ext cx="6339240" cy="12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Escolha o competidor e escreva a nota de cada exercício. Guardam-se sozinhas, sem botão de gravar — e também funcionam sem internet.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3 — PONTUAR A PROVA · PASSO 7 DE 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A prova está a decorrer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24" name="Picture 5" descr="19-scores-button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225" name="TextBox 6"/>
          <p:cNvSpPr/>
          <p:nvPr/>
        </p:nvSpPr>
        <p:spPr>
          <a:xfrm>
            <a:off x="5120640" y="3579120"/>
            <a:ext cx="6339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Na página do evento aparece agora Pont. em cada competidor, sinal de que a prova arrancou.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3 — PONTUAR A PROVA · PASSO 8 DE 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Ver a classificação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30" name="Picture 5" descr="20-classification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231" name="TextBox 6"/>
          <p:cNvSpPr/>
          <p:nvPr/>
        </p:nvSpPr>
        <p:spPr>
          <a:xfrm>
            <a:off x="5120640" y="3579120"/>
            <a:ext cx="6339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A classificação é calculada a partir das notas e fica visível para todos.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PERCURSO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4 — Consultar provas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TextBox 5"/>
          <p:cNvSpPr/>
          <p:nvPr/>
        </p:nvSpPr>
        <p:spPr>
          <a:xfrm>
            <a:off x="640080" y="1673280"/>
            <a:ext cx="6400440" cy="20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2599"/>
              </a:spcAft>
            </a:pPr>
            <a:r>
              <a:rPr b="0" lang="en-US" sz="1900" spc="-1" strike="noStrike">
                <a:solidFill>
                  <a:srgbClr val="141822"/>
                </a:solidFill>
                <a:latin typeface="Calibri"/>
              </a:rPr>
              <a:t>Encontrar provas e ver resultados, sem organizar nem inscrever nada.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901"/>
              </a:spcAft>
            </a:pPr>
            <a:r>
              <a:rPr b="0" lang="en-US" sz="1500" spc="-1" strike="noStrike">
                <a:solidFill>
                  <a:srgbClr val="5c6472"/>
                </a:solidFill>
                <a:latin typeface="Calibri"/>
              </a:rPr>
              <a:t>▪  </a:t>
            </a:r>
            <a:r>
              <a:rPr b="0" lang="en-US" sz="1500" spc="-1" strike="noStrike">
                <a:solidFill>
                  <a:srgbClr val="5c6472"/>
                </a:solidFill>
                <a:latin typeface="Calibri"/>
              </a:rPr>
              <a:t>Para qualquer pessoa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901"/>
              </a:spcAft>
            </a:pPr>
            <a:r>
              <a:rPr b="0" lang="en-US" sz="1500" spc="-1" strike="noStrike">
                <a:solidFill>
                  <a:srgbClr val="5c6472"/>
                </a:solidFill>
                <a:latin typeface="Calibri"/>
              </a:rPr>
              <a:t>▪  </a:t>
            </a:r>
            <a:r>
              <a:rPr b="0" lang="en-US" sz="1500" spc="-1" strike="noStrike">
                <a:solidFill>
                  <a:srgbClr val="5c6472"/>
                </a:solidFill>
                <a:latin typeface="Calibri"/>
              </a:rPr>
              <a:t>Não é preciso conta para consultar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901"/>
              </a:spcAft>
            </a:pPr>
            <a:r>
              <a:rPr b="0" lang="en-US" sz="1500" spc="-1" strike="noStrike">
                <a:solidFill>
                  <a:srgbClr val="5c6472"/>
                </a:solidFill>
                <a:latin typeface="Calibri"/>
              </a:rPr>
              <a:t>▪  </a:t>
            </a:r>
            <a:r>
              <a:rPr b="0" lang="en-US" sz="1500" spc="-1" strike="noStrike">
                <a:solidFill>
                  <a:srgbClr val="5c6472"/>
                </a:solidFill>
                <a:latin typeface="Calibri"/>
              </a:rPr>
              <a:t>Vistas de lista, mapa e tabela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Box 6"/>
          <p:cNvSpPr/>
          <p:nvPr/>
        </p:nvSpPr>
        <p:spPr>
          <a:xfrm>
            <a:off x="7498080" y="1673280"/>
            <a:ext cx="4023000" cy="19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000" spc="-1" strike="noStrike">
                <a:solidFill>
                  <a:srgbClr val="5c6472"/>
                </a:solidFill>
                <a:latin typeface="Calibri"/>
              </a:rPr>
              <a:t>NESTE PERCURSO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1.  Procurar uma prova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2.  Ver os detalhes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3.  Ver no mapa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4.  Ver em tabela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5.  Ver o detalhe de um competidor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b="0" lang="en-US" sz="1300" spc="-1" strike="noStrike">
                <a:solidFill>
                  <a:srgbClr val="141822"/>
                </a:solidFill>
                <a:latin typeface="Calibri"/>
              </a:rPr>
              <a:t>6.  Fixar quem lhe interessa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9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4 — CONSULTAR PROVAS · PASSO 1 DE 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Procurar uma prova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42" name="Picture 5" descr="21-stages-filters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243" name="TextBox 6"/>
          <p:cNvSpPr/>
          <p:nvPr/>
        </p:nvSpPr>
        <p:spPr>
          <a:xfrm>
            <a:off x="5120640" y="3579120"/>
            <a:ext cx="6339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Em Provas, abra Filtros e escreva o nome. Também pode filtrar por país e por datas.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4 — CONSULTAR PROVAS · PASSO 2 DE 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Ver os detalhes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48" name="Picture 5" descr="22-plus-info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249" name="TextBox 6"/>
          <p:cNvSpPr/>
          <p:nvPr/>
        </p:nvSpPr>
        <p:spPr>
          <a:xfrm>
            <a:off x="5120640" y="3579120"/>
            <a:ext cx="6339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O botão + Info abre a página da prova: datas, local e lista de inscritos.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1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4 — CONSULTAR PROVAS · PASSO 3 DE 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Ver no mapa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54" name="Picture 5" descr="23-map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255" name="TextBox 6"/>
          <p:cNvSpPr/>
          <p:nvPr/>
        </p:nvSpPr>
        <p:spPr>
          <a:xfrm>
            <a:off x="5120640" y="3579120"/>
            <a:ext cx="6339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A vista Mapa mostra onde é cada prova. Útil para encontrar as que ficam perto.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7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4 — CONSULTAR PROVAS · PASSO 4 DE 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Ver em tabela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60" name="Picture 5" descr="24-table-row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261" name="TextBox 6"/>
          <p:cNvSpPr/>
          <p:nvPr/>
        </p:nvSpPr>
        <p:spPr>
          <a:xfrm>
            <a:off x="5120640" y="3579120"/>
            <a:ext cx="6339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A vista Tabela compara várias provas de uma vez. Toque numa linha para a abrir.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3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4 — CONSULTAR PROVAS · PASSO 5 DE 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Ver o detalhe de um competidor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66" name="Picture 5" descr="25-see-detail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267" name="TextBox 6"/>
          <p:cNvSpPr/>
          <p:nvPr/>
        </p:nvSpPr>
        <p:spPr>
          <a:xfrm>
            <a:off x="5120640" y="3579120"/>
            <a:ext cx="6339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Na classificação, Ver detalhe mostra a pontuação exercício por exercício.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9" name="TextBox 2"/>
          <p:cNvSpPr/>
          <p:nvPr/>
        </p:nvSpPr>
        <p:spPr>
          <a:xfrm>
            <a:off x="640080" y="457200"/>
            <a:ext cx="10911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1f6f4a"/>
                </a:solidFill>
                <a:latin typeface="Calibri"/>
              </a:rPr>
              <a:t>4 — CONSULTAR PROVAS · PASSO 6 DE 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Box 3"/>
          <p:cNvSpPr/>
          <p:nvPr/>
        </p:nvSpPr>
        <p:spPr>
          <a:xfrm>
            <a:off x="640080" y="75888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Fixar quem lhe interessa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Rectangle 4"/>
          <p:cNvSpPr/>
          <p:nvPr/>
        </p:nvSpPr>
        <p:spPr>
          <a:xfrm>
            <a:off x="640080" y="141732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72" name="Picture 5" descr="26-pin.png"/>
          <p:cNvPicPr/>
          <p:nvPr/>
        </p:nvPicPr>
        <p:blipFill>
          <a:blip r:embed="rId1"/>
          <a:stretch/>
        </p:blipFill>
        <p:spPr>
          <a:xfrm>
            <a:off x="1373400" y="1673280"/>
            <a:ext cx="2556000" cy="4727160"/>
          </a:xfrm>
          <a:prstGeom prst="rect">
            <a:avLst/>
          </a:prstGeom>
          <a:ln w="0">
            <a:solidFill>
              <a:srgbClr val="d8dcd6"/>
            </a:solidFill>
          </a:ln>
        </p:spPr>
      </p:pic>
      <p:sp>
        <p:nvSpPr>
          <p:cNvPr id="273" name="TextBox 6"/>
          <p:cNvSpPr/>
          <p:nvPr/>
        </p:nvSpPr>
        <p:spPr>
          <a:xfrm>
            <a:off x="5120640" y="3579120"/>
            <a:ext cx="6339240" cy="82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35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141822"/>
                </a:solidFill>
                <a:latin typeface="Calibri"/>
              </a:rPr>
              <a:t>Fixar mantém um competidor sempre à vista enquanto percorre a classificação.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a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5" name="TextBox 2"/>
          <p:cNvSpPr/>
          <p:nvPr/>
        </p:nvSpPr>
        <p:spPr>
          <a:xfrm>
            <a:off x="640080" y="457200"/>
            <a:ext cx="109112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41822"/>
                </a:solidFill>
                <a:latin typeface="Calibri"/>
              </a:rPr>
              <a:t>Se algo não aparece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Rectangle 3"/>
          <p:cNvSpPr/>
          <p:nvPr/>
        </p:nvSpPr>
        <p:spPr>
          <a:xfrm>
            <a:off x="640080" y="1115640"/>
            <a:ext cx="10911240" cy="9000"/>
          </a:xfrm>
          <a:prstGeom prst="rect">
            <a:avLst/>
          </a:prstGeom>
          <a:solidFill>
            <a:srgbClr val="d8dc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5640" bIns="-35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7" name="TextBox 4"/>
          <p:cNvSpPr/>
          <p:nvPr/>
        </p:nvSpPr>
        <p:spPr>
          <a:xfrm>
            <a:off x="640080" y="1371600"/>
            <a:ext cx="10911240" cy="407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Bef>
                <a:spcPts val="601"/>
              </a:spcBef>
              <a:spcAft>
                <a:spcPts val="1599"/>
              </a:spcAft>
            </a:pP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▪  </a:t>
            </a: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Não consigo editar o evento — verifique se a prova já começou. Depois de arrancar, quase tudo fica bloqueado.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601"/>
              </a:spcBef>
              <a:spcAft>
                <a:spcPts val="1599"/>
              </a:spcAft>
            </a:pP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▪  </a:t>
            </a: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Não consigo pontuar — a prova tem de estar a decorrer hoje e as inscrições fechadas.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601"/>
              </a:spcBef>
              <a:spcAft>
                <a:spcPts val="1599"/>
              </a:spcAft>
            </a:pP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▪  </a:t>
            </a: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Não vejo a prova em Coleções — o email do coletor tem de ser o da sua conta.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601"/>
              </a:spcBef>
              <a:spcAft>
                <a:spcPts val="1599"/>
              </a:spcAft>
            </a:pP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▪  </a:t>
            </a: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O cão não aparece na inscrição — só se pode inscrever um cão marcado como Próprio.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601"/>
              </a:spcBef>
              <a:spcAft>
                <a:spcPts val="1599"/>
              </a:spcAft>
            </a:pP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▪  </a:t>
            </a: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Não vejo a classificação — só aparece depois de a prova arrancar.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601"/>
              </a:spcBef>
              <a:spcAft>
                <a:spcPts val="1599"/>
              </a:spcAft>
            </a:pP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▪  </a:t>
            </a: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Aparece um aviso de notas pendentes — há provas suas com exercícios sem pontuar.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601"/>
              </a:spcBef>
              <a:spcAft>
                <a:spcPts val="1599"/>
              </a:spcAft>
            </a:pP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▪  </a:t>
            </a:r>
            <a:r>
              <a:rPr b="0" lang="en-US" sz="1800" spc="-1" strike="noStrike">
                <a:solidFill>
                  <a:srgbClr val="141822"/>
                </a:solidFill>
                <a:latin typeface="Calibri"/>
              </a:rPr>
              <a:t>Falta um campo obrigatório — os campos abrem-se por ordem; volte atrás e complete o anterior.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2026-08-20T16:46:18Z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